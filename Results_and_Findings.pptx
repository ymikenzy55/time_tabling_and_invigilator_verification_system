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Timetabling &amp;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Invigilator Verification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D0FF"/>
                </a:solidFill>
              </a:rPr>
              <a:t>Results, Findings &amp; Future Improvements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University of Energy and Natural Resources (UENR)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D0FF"/>
                </a:solidFill>
              </a:rPr>
              <a:t>Final-Year 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Project Overview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Institution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University of Energy and Natural Resources (UENR)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Full-stack, role-based web application (PWA)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Three Tiers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Academic Submission Portal · Constraint Scheduling Engine · Invigilator Verification Network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User Roles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Super Admin (Exam Officer), Department Head, Invigilator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Live URL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https://unertimetable.vercel.app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Repository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github.com/ymikenzy55/Time_tabling_and_Invigilator_verification_System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React 18, Vite 5, TailwindCSS, TanStack Query 5, Socket.IO Client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Node.js 20, Express 4, Prisma ORM 5, PostgreSQL 16 (Neon)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Real-Time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Socket.IO 4 with role-scoped rooms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Deployment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Vercel (frontend), Render (API), Neon (database)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Specific Objectives &amp; Achievement Status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38912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5029200"/>
                <a:gridCol w="22860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Objective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How Achieved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Structured course submission &amp; approval workflow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 CRUD with DRAFT→SUBMITTED→APPROVED states, locked flag, AuditLog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Constraint-based automatic timetable generation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Greedy FFD with 3-pass relaxation, 20 retries, hard/soft constraints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QR-code verification of invigilator physical presence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Venue-bound QR tokens, server-side assignment + time window validation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Automatic invigilator assignment with conflict avoidance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Round-robin cursor, no double-booking, no same-department, max 4/venue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Real-time notification system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Socket.IO role-scoped rooms, auto-absent checker (5-min interval)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RBAC and audit logging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JWT auth, RBAC middleware, immutable AuditLog with IP + user agent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</a:rPr>
              <a:t>Traceability Matrix: Problem → Solution → Result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38912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  <a:gridCol w="21945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Implementation File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Unstructured course collection via email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Validated course workflow with locked flag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courses.service.js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Manual, error-prone timetabling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Constraint scheduler with 20 retries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timetable.service.js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Clash-free output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Unreliable paper-based attendance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Venue-bound QR scan with time window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attendance.service.js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Forgery prevented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 invigilator assignment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Round-robin with conflict avoidance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venueAssignments.service.js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conflicts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Late discovery of no-shows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Socket.IO + auto-absent checker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autoAbsent.service.js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Real-time alerts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audit trail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JWT, RBAC, immutable AuditLog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auth.js, rbac.js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 accountability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Scheduling Algorithm: Results &amp;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</a:rPr>
              <a:t>Algorithm: Greedy First-Fit-Decreasing (FFD) with 3-pass relaxation and multi-retry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How Achieved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Algorithm class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Greedy heuristic (NP-hard problem)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Practical trade-off: speed over guaranteed optimality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Sorting strategy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Practical-first, then level, then student count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Hardest-to-place courses scheduled first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Slot shuffling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Fisher-Yates randomization per attempt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Even distribution across 3 daily periods (8AM, 11AM, 2PM)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Pass 1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Soft gap constraint (1–3 day gaps)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Random rest days between exams for same dept+level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Pass 2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No gap constraint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Drops gap constraint if Pass 1 fails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Pass 3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Relaxed (same-day, different period allowed)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Allows same dept+level same day in different periods — never same slot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Retry mechanism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Up to 20 attempts, best result kept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Randomization produces different results each attempt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Hard constraints enforced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 (capacity, no clash, schedule-once, dept/day, dept/slot)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Post-placement clash safety net verifies all constraints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Course splitting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Supported across multiple venues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Sequential student ranges (e.g., 1–50 Venue A, 51–100 Venue B)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Progress feedback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Real-time SSE streaming with emoji messages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Server-Sent Events to client during generation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QR Verification: Validation Chain &amp; Results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5603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Validation Step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Check Performed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Rejection Code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 QR format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Parse VENUE:{venueId}:{sessionId} 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REJECTED_INVALID_QR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Malformed QRs rejected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 Role check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 must be INVIGILATOR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REJECTED_UNASSIGNED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Non-invigilators blocked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 Account 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Must be ACTIVE in database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REJECTED_UNASSIGNED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Suspended accounts blocked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 Venue exists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Venue lookup in database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REJECTED_INVALID_QR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Deleted venues rejected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 Session exists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Examination session lookup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REJECTED_INVALID_QR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Expired sessions rejected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 Demo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Check isDemo flag on assignment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(skipped if demo)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Demo scans bypass time checks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 Venue assignment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Invigilator assigned to this venue?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REJECTED_VENUE_MISMATCH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Wrong venue detected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 Exam period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Current time within session dates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REJECTED_WINDOW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Out-of-period scans rejected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 Duplicate scan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Existing RECORDED scan for slot?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REJECTED_DUPLICATE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Double check-ins prevented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 Time window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Within slot start + 180 min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REJECTED_WINDOW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Early/late scans rejected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 GPS (required)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Coordinates within UENR bounds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Blocked if off-campus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Off-campus scans rejected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 Record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Persist ALL outcomes to VenueScan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 audit trail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Security Measures Implemented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3657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Layer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Measure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Tool / Library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Transport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HTTPS with TLS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Render TLS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HTTP Headers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Security headers, x-powered-by disabled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Helmet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Strict origin allow-list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express CORS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Rate limiting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Brute-force protection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express-rate-limit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Passwords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Hashed with configurable cost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bcryptjs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Authentication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JWT (1-day expiry), 60s user cache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jsonwebtoken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Authorization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Role-based access on every route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Custom RBAC middleware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Input validation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Schema-based validation on all inputs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Zod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SQL injection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Parameterised queries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Prisma ORM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QR integrity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Venue-bound, server-validated tokens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Custom parser + service logic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Account lifecycle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PENDING_APPROVAL gate before sign-in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Custom status flow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Audit trail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Immutable log with IP + user agent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AuditLog model + 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Timing attacks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Dummy bcrypt compare for non-existent users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bcryptjs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Location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Required GPS campus boundary check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Bounding box geolocation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System Scale &amp; Engineering Metrics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5720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Server feature modules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 (routes → controller → service → validator)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Frontend route screens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30+ with ProtectedRoute guards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Prisma database migrations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 (schema evolution tracked)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Database models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 across 6 domain groups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User roles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(SUPER_ADMIN, DEPARTMENT_HEAD, INVIGILATOR)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 code types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 (venue-bound plain string + JWT-signed per-invigilation)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Exam time slots per day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(8–11 AM, 11 AM–2 PM, 2–5 PM)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 invigilators per venue per slot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 (1 per 50 students)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Scheduler retry attempts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 (configurable 1–100)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Scheduler constraint passes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(gap → no-gap → relaxed)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Auto-absent check interval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minutes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Auth cache TTL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 seconds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QR token expiry (per-invigilation)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 hours (JWT)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Venue QR expiry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None (valid for entire exam period)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PWA installable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 (manifest.json + service worker)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Deployment 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Live and deployed (not a prototype)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Invigilator Assignment: Rules &amp; Results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38912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How Enforced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double-booking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Track per-invigilator slots in Map, check time conflict before assigning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Zero conflicts guaranteed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same-department bias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Compare invigilator.departmentId against exam course departmentIds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Invigilators never examine own dept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Capacity-based count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invigilatorsNeeded(students, maxPerVenue) = ceil(students / 50), max 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Proportional staffing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Round-robin fairness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Cursor rotates through invigilator list, wraps around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Even workload distribution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Demo invigilator auto-assign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Demo users get 3 venues/day (one per time slot)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Always available for demo scans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Demo scan slots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One isDemo VenueAssignment per invigilator at midnight on session start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Time-independent testing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Email notification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Send assignment email per invigilator with venue list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Instant notification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In-app notification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Socket.IO event + Notification record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Real-time UI update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 assignment supported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Admin can manually assign with full constraint checks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Override capability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Future Improvements (Small Fixes)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</a:rPr>
              <a:t>Targeted, achievable fixes — not full rewrites: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/>
              <a:tblGrid>
                <a:gridCol w="457200"/>
                <a:gridCol w="68580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Improvement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Effort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Build Audit Log UI page (data is written but not viewable in-app)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automated test suite (Jest + Supertest for API, Vitest for components)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invigilator swap/replacement workflow (no way to trade duties currently)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bulk course import via Excel upload (SheetJS already installed)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push notifications via service worker (PWA currently only caches app shell)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analytics dashboard with charts (attendance rates, no-show trends)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Upgrade scheduler to CP-SAT solver (OR-Tools) for guaranteed optimality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iCal/Google Calendar export for timetable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Multi-region deployment for lower latency (currently US-only)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Formal user acceptance testing with exam office staff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SMS notification channel (Twilio dependency already installed)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</a:rPr>
              <a:t>Before vs After: Manual Process → Digital System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Process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Before (Manual)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After (This System)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 collection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Email, inconsistent formats, manual re-entry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Structured web forms with validation + audit trail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 approval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Informal, no tracking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DRAFT→SUBMITTED→APPROVED workflow with comments + locked flag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Timetable generation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Spreadsheet, hand-checked for clashes, hours/days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Automated scheduler, 20 retries, seconds, clash-free guaranteed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Invigilator assignment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Printed notices, phone calls, double-booking risk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Round-robin auto-assignment, zero conflicts, email + in-app notification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Attendance verification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Paper sign-in sheets, forgeable, no location proof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Venue-bound QR + GPS, server-validated, immutable audit trail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No-show detection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Discovered when students complain (too late)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Auto-absent checker every 5 min + real-time Socket.IO alert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Communication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Printed notices, slow, unreliable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Real-time Socket.IO notifications + email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Audit trail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Every privileged action logged with IP + user agent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Accessibility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Paper only, on-campus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PWA installable, works on any device with camera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Functional Testing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</a:rPr>
              <a:t>Each feature was tested manually through the deployed application at https://unertimetable.vercel.app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338560" cy="45720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2926080"/>
                <a:gridCol w="2926080"/>
                <a:gridCol w="2468880"/>
                <a:gridCol w="73152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Test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Feature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Tested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Test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Scenario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Expected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Result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Actual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Result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Pass/Fail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Registration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New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registers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during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open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window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email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verification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Account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created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PENDING_APPROVAL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6-digit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email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code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required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Account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created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PENDING_APPROVAL;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email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code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Account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pending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account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Account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changes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ACTIVE;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ACTIVE;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login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succeeds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Creation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Department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Head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creates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duplicate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code+semester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Validation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duplicate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[code,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semesterId]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Duplicate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error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message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Submission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Department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Head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submits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DRAFT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SUBMITTED;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receives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real-time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notification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changed;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notification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received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via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Socket.IO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&amp;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Lock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submitted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locked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=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true;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Department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Head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cannot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edit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locked;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edit/delete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buttons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hidden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submitted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comment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comment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visible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Department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Head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Status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changed;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comment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displayed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Timetable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timetable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50+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courses,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10-day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period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Clash-free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timetable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produced;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dept+level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slot/day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scheduled;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zero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clashes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Timetable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Retry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tight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constraints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(few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many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attempt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kept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after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20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retries;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unscheduled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reported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Best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result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retained;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unscheduled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listed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reasons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FT-09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Splitting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Large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(300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students)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exceeds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largest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(150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capacity)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split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across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sequential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ranges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(1-150,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151-300)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Split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correctly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applied;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both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Auto-Assignment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Run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automatic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timetable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double-booking;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same-department;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max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round-robin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distribution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Zero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conflicts;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even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distribution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Manual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manually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conflict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System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rejects: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conflict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/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same-department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/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capacity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exceeded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specific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error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message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57200"/>
          <a:ext cx="11338560" cy="45720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2926080"/>
                <a:gridCol w="2926080"/>
                <a:gridCol w="2468880"/>
                <a:gridCol w="73152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Test ID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Feature Tested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Test Scenario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Expected Result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Actual Result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Pass/Fail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Code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codes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bulk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images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rendered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VENUE:{venueId}:{sessionId}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tokens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codes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generated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printable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Valid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correct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during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window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Result: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RECORDED;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persisted;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notified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recorded;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Socket.IO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notification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received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Wrong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of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they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are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Result: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REJECTED_VENUE_MISMATCH;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message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lists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actual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Correct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guidance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message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Duplicate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twice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same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slot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Second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rejected: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REJECTED_DUPLICATE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Duplicate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detected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Out-of-Window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hour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before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slot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start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Rejected: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REJECTED_WINDOW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"too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early"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message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Correctly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details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Unauthenticated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Unauthenticated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attempts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call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API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HTTP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401;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"You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must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signed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in"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message;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token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cleared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401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returned;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frontend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redirects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Non-Invigilator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attempts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QR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Rejected: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REJECTED_UNASSIGNED;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"Only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registered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invigilators"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Correctly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FT-19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Demo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Slot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uses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demo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slot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any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accepted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regardless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of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window;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GPS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still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required;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isDemo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bypass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Demo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recorded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successfully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anytime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(GPS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verified)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Off-Campus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GPS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(Required)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GPS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outside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UENR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bounding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box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rejected: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off-campus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location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blocked;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must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campus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Off-campus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blocked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error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message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FT-21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Auto-Absent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Detection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misses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assigned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slot;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5+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minutes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ABSENT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VenueScan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created;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notified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ABSENT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record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created;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notification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received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FT-22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Real-Time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Check-In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scans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has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open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another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tab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receives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instant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notification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without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refresh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Socket.IO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event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delivered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FT-23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Role-Based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Access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Department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Head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attempts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access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/admin/timetable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403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Forbidden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from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API;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ProtectedRoute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redirects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/dashboard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Access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denied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both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layers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FT-24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Audit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Logging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Admin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approves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course,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then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checks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audit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AuditLog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entry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created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actor,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action,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IP,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agent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Entry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exists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metadata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fields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FT-25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Password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Reset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requests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password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reset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via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Single-use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expiring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token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emailed;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password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change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succeeds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Reset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email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sent;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password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updated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FT-26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PWA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Installation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installs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mobile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device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installable;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opens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standalone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mode;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app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shell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cached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PWA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installs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works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offline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(shell)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Functional Testing Summary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572000"/>
        </p:xfrm>
        <a:graphic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 test cases executed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 cases passed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 cases failed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 rate (accuracy)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Testing method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Manual functional testing through deployed application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Environment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(https://unertimetable.vercel.app)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Browsers tested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Chrome, Firefox, Edge (desktop + mobile)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Roles tested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SUPER_ADMIN, DEPARTMENT_HEAD, INVIGILATOR, Unauthenticated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Feature domains covered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 (Auth, Courses, Timetable, Assignment, QR Scan, Notifications)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Rejection scenarios tested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(invalid QR, wrong venue, duplicate, out-of-window, unauthenticated, non-invigilator, off-campus GPS, no-GPS)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Real-time events verified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 (check-in, pending-account, course-submitted, course-approved, course-rejected, assignment-updated, auto-absent)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Security measures verified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 (HTTPS, Helmet, CORS, rate limit, bcrypt, JWT, RBAC, Zod, Prisma, QR, PENDING gate, audit, timing attack, GPS)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Limitations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automated test suite; audit log UI not implemented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Research Gaps Identified &amp; Addressed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</a:rPr>
              <a:t>From literature review (Chapter 2) — gaps in existing systems and how this project addresses them: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338560" cy="45720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2103120"/>
                <a:gridCol w="1097280"/>
                <a:gridCol w="429768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Gap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Research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Gap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(from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Literature)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Addressed?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How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This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Project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Addresses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Existing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attendance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systems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focus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student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attendance,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verification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specific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Bhattacharya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(2018);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Sahoo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(2019)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Venue-bound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codes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specifically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assignment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time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window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Existing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timetabling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systems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integrate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attendance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verification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McCollum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(2010);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MirHassani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(2006)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Single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integrated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system: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timetable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generation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assignment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verification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real-time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monitoring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Venue-bound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(rather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than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user-bound)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codes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verification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well-explored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Adnan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(2017)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encodes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VENUE:{venueId}:{sessionId};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server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validates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assignment,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ownership;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scanning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wrong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rejected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Real-time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notifications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check-ins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auto-absent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detection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addressed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existing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systems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Tilk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&amp;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Minkov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(2017)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Socket.IO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role-scoped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rooms;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auto-absent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checker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runs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every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check-in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alerts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exam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office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allocation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treated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secondary,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manual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problem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automatic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conflict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avoidance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Walkinshaw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Round-robin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auto-assignment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double-booking,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same-department,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max-per-venue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enforcement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structured,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validated,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auditable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course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submission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workflow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existing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systems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(2009)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DRAFT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SUBMITTED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→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APPROVED/REJECTED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workflow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locked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flag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immutable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AuditLog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Paper-based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attendance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vulnerable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forgery,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remote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signing,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post-hoc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completion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Adnan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(2017)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Server-side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validation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assignment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time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window;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GPS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campus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boundary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check;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all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attempts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persisted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audit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57200"/>
          <a:ext cx="11338560" cy="45720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2103120"/>
                <a:gridCol w="1097280"/>
                <a:gridCol w="429768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Gap 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Research Gap (from Literature)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Addressed?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How This Project Addresses 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Late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discovery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no-shows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only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when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students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complain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Walkinshaw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Auto-absent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background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job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(5-min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interval)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creates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ABSENT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records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notifies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Super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Admins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Lack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of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audit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trail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privileged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examination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administration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Sandhu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(1996)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Immutable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AuditLog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actor,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action,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target,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IP,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survives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deletion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(SetNull)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Biometric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verification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requires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specialised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hardware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practical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exam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settings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Karthik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&amp;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Sivasubramanian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(2016)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(alternative)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GPS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approach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hardware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invigilators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already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own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(smartphone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camera)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specialised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hardware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needed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scheduling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optimality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guarantee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greedy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heuristics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large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instances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Burke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&amp;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Newall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(2004);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&amp;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Burke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(2009)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Partially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Greedy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FFD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retries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feasible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solutions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fast;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metaheuristic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upgrade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recommended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future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work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RG-12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formal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acceptance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testing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actual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exam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office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staff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Hevner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al.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(2004)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Identified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limitation;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pilot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deployment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UAT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recommended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future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work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F"/>
                </a:solidFill>
              </a:rPr>
              <a:t>Research Gap Summary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4114800"/>
        </p:xfrm>
        <a:graphic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 research gaps identified from literature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Gaps fully addressed by this project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Gaps partially addressed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(RG-11: scheduling optimality — greedy heuristic, not metaheuristic)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Gaps addressed with alternative approach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(RG-10: QR+GPS instead of biometric hardware)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Gaps not addressed (acknowledged as limitation)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(RG-12: no formal UAT with staff)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Overall gap coverage rate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92% (11 of 12 gaps addressed)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Novel contribution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Venue-bound QR verification + integrated lifecycle in a single system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Key cited sources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 et al. (2009), Burke et al. (2004), Adnan et al. (2017), Walkinshaw et al. (2012)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3A5F"/>
                </a:solidFill>
              </a:rPr>
              <a:t>Conclusion: This project addresses 92% of the research gaps identified in the literature review, with the remaining gap (formal UAT) acknowledged as a limitation and recommended for future work.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 All 6 specific objectives were successfully implemented and deployed.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 The system digitises the full examination lifecycle — from course submission to invigilator verification.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 The greedy FFD scheduler produces clash-free timetables in seconds with 20 retry attempts.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 Venue-bound QR codes with server-side validation prevent attendance fraud.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 Real-time Socket.IO notifications give the exam office instant visibility of check-ins and no-shows.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 The system is live, deployed, and installable as a PWA — not a prototype.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 12 targeted future improvements identified, all achievable without architectural changes.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D0FF"/>
                </a:solidFill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Timetabling &amp; Invigilator Verification System — Results &amp; Findings</dc:title>
  <dc:subject>PptxGenJS Presentation</dc:subject>
  <dc:creator>Michael Yeboah</dc:creator>
  <cp:lastModifiedBy>Michael Yeboah</cp:lastModifiedBy>
  <cp:revision>1</cp:revision>
  <dcterms:created xsi:type="dcterms:W3CDTF">2026-09-10T03:41:22Z</dcterms:created>
  <dcterms:modified xsi:type="dcterms:W3CDTF">2026-09-10T03:41:22Z</dcterms:modified>
</cp:coreProperties>
</file>